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Atkinson Hyperlegible"/>
      <p:regular r:id="rId16"/>
      <p:bold r:id="rId17"/>
      <p:italic r:id="rId18"/>
      <p:boldItalic r:id="rId19"/>
    </p:embeddedFont>
    <p:embeddedFont>
      <p:font typeface="Archivo Black"/>
      <p:regular r:id="rId20"/>
    </p:embeddedFont>
    <p:embeddedFont>
      <p:font typeface="Archivo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Black-regular.fntdata"/><Relationship Id="rId11" Type="http://schemas.openxmlformats.org/officeDocument/2006/relationships/slide" Target="slides/slide7.xml"/><Relationship Id="rId22" Type="http://schemas.openxmlformats.org/officeDocument/2006/relationships/font" Target="fonts/Archivo-boldItalic.fntdata"/><Relationship Id="rId10" Type="http://schemas.openxmlformats.org/officeDocument/2006/relationships/slide" Target="slides/slide6.xml"/><Relationship Id="rId21" Type="http://schemas.openxmlformats.org/officeDocument/2006/relationships/font" Target="fonts/Archiv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tkinsonHyperlegible-bold.fntdata"/><Relationship Id="rId16" Type="http://schemas.openxmlformats.org/officeDocument/2006/relationships/font" Target="fonts/AtkinsonHyperlegible-regular.fntdata"/><Relationship Id="rId5" Type="http://schemas.openxmlformats.org/officeDocument/2006/relationships/slide" Target="slides/slide1.xml"/><Relationship Id="rId19" Type="http://schemas.openxmlformats.org/officeDocument/2006/relationships/font" Target="fonts/AtkinsonHyperlegible-boldItalic.fntdata"/><Relationship Id="rId6" Type="http://schemas.openxmlformats.org/officeDocument/2006/relationships/slide" Target="slides/slide2.xml"/><Relationship Id="rId18" Type="http://schemas.openxmlformats.org/officeDocument/2006/relationships/font" Target="fonts/AtkinsonHyperlegible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4F0E6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F4F0E6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3">
  <p:cSld name="Slide master 3">
    <p:bg>
      <p:bgPr>
        <a:solidFill>
          <a:srgbClr val="F4F0E6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/>
        </p:nvSpPr>
        <p:spPr>
          <a:xfrm>
            <a:off x="685783" y="787400"/>
            <a:ext cx="6959426" cy="5257800"/>
          </a:xfrm>
          <a:prstGeom prst="rect">
            <a:avLst/>
          </a:prstGeom>
          <a:solidFill>
            <a:srgbClr val="F4F0E6"/>
          </a:solidFill>
          <a:ln cap="flat" cmpd="sng" w="25375">
            <a:solidFill>
              <a:srgbClr val="222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6"/>
          <p:cNvSpPr/>
          <p:nvPr/>
        </p:nvSpPr>
        <p:spPr>
          <a:xfrm>
            <a:off x="1142971" y="1306794"/>
            <a:ext cx="6045049" cy="1682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4800"/>
              <a:buFont typeface="Archivo Black"/>
              <a:buNone/>
            </a:pPr>
            <a:r>
              <a:rPr b="0" i="0" lang="en-US" spc="-72" sz="4800" u="none" cap="none" strike="noStrike">
                <a:solidFill>
                  <a:srgbClr val="222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PHISHING AWARENESS TRAINING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6"/>
          <p:cNvSpPr/>
          <p:nvPr/>
        </p:nvSpPr>
        <p:spPr>
          <a:xfrm>
            <a:off x="1142971" y="3123803"/>
            <a:ext cx="665463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000"/>
              <a:buFont typeface="Atkinson Hyperlegible"/>
              <a:buNone/>
            </a:pPr>
            <a:r>
              <a:rPr b="0" i="0" lang="en-US" sz="20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Recognize • Prevent • Stay Safe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1142971" y="3923903"/>
            <a:ext cx="6045049" cy="1958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350"/>
              <a:buFont typeface="Atkinson Hyperlegible"/>
              <a:buNone/>
            </a:pPr>
            <a:r>
              <a:rPr b="0" i="0" lang="en-US" spc="13" sz="135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CodeAlpha Cyber Security Internship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2750"/>
              </a:spcBef>
              <a:spcAft>
                <a:spcPts val="0"/>
              </a:spcAft>
              <a:buClr>
                <a:srgbClr val="22282A"/>
              </a:buClr>
              <a:buSzPts val="1350"/>
              <a:buFont typeface="Atkinson Hyperlegible"/>
              <a:buNone/>
            </a:pPr>
            <a:r>
              <a:rPr b="0" i="0" lang="en-US" spc="13" sz="135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Task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2750"/>
              </a:spcBef>
              <a:spcAft>
                <a:spcPts val="0"/>
              </a:spcAft>
              <a:buClr>
                <a:srgbClr val="22282A"/>
              </a:buClr>
              <a:buSzPts val="1350"/>
              <a:buFont typeface="Atkinson Hyperlegible"/>
              <a:buNone/>
            </a:pPr>
            <a:r>
              <a:rPr b="0" i="0" lang="en-US" spc="13" sz="135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Name: Nishva Maheta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2750"/>
              </a:spcBef>
              <a:spcAft>
                <a:spcPts val="0"/>
              </a:spcAft>
              <a:buClr>
                <a:srgbClr val="22282A"/>
              </a:buClr>
              <a:buSzPts val="1350"/>
              <a:buFont typeface="Atkinson Hyperlegible"/>
              <a:buNone/>
            </a:pPr>
            <a:r>
              <a:rPr b="0" i="0" lang="en-US" spc="13" sz="135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B.Sc IT Student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457189" y="1930566"/>
            <a:ext cx="377944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3200"/>
              <a:buFont typeface="Archivo"/>
              <a:buNone/>
            </a:pPr>
            <a:r>
              <a:rPr b="1" i="0" lang="en-US" spc="-32" sz="32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WHAT IS PHISHING?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7"/>
          <p:cNvSpPr/>
          <p:nvPr/>
        </p:nvSpPr>
        <p:spPr>
          <a:xfrm>
            <a:off x="457189" y="2968625"/>
            <a:ext cx="1247148" cy="38100"/>
          </a:xfrm>
          <a:prstGeom prst="roundRect">
            <a:avLst>
              <a:gd fmla="val 49999" name="adj"/>
            </a:avLst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7"/>
          <p:cNvSpPr/>
          <p:nvPr/>
        </p:nvSpPr>
        <p:spPr>
          <a:xfrm>
            <a:off x="457189" y="3238500"/>
            <a:ext cx="377944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000"/>
              <a:buFont typeface="Atkinson Hyperlegible"/>
              <a:buNone/>
            </a:pPr>
            <a:r>
              <a:rPr b="0" i="0" lang="en-US" sz="20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Phishing is a cyber attack where attackers pretend to be a trusted person or organization to trick users into sharing sensitive information.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"/>
          <p:cNvSpPr/>
          <p:nvPr/>
        </p:nvSpPr>
        <p:spPr>
          <a:xfrm>
            <a:off x="5150912" y="0"/>
            <a:ext cx="7040783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5557302" y="363537"/>
            <a:ext cx="6228004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000"/>
              <a:buFont typeface="Atkinson Hyperlegible"/>
              <a:buNone/>
            </a:pPr>
            <a:r>
              <a:rPr b="1" i="0" lang="en-US" sz="20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Attackers may try to steal: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/>
          <p:nvPr/>
        </p:nvSpPr>
        <p:spPr>
          <a:xfrm>
            <a:off x="5557302" y="876895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5891859" y="790575"/>
            <a:ext cx="5893446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Passwords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"/>
          <p:cNvSpPr/>
          <p:nvPr/>
        </p:nvSpPr>
        <p:spPr>
          <a:xfrm>
            <a:off x="5557302" y="1320701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5891859" y="1234380"/>
            <a:ext cx="5893446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OTPs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7"/>
          <p:cNvSpPr/>
          <p:nvPr/>
        </p:nvSpPr>
        <p:spPr>
          <a:xfrm>
            <a:off x="5557302" y="1764506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/>
          <p:nvPr/>
        </p:nvSpPr>
        <p:spPr>
          <a:xfrm>
            <a:off x="5891859" y="1678186"/>
            <a:ext cx="5893446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Bank or payment information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5557302" y="2208312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5891859" y="2121991"/>
            <a:ext cx="5893446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Personal information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5557302" y="2652117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5891859" y="2565797"/>
            <a:ext cx="5893446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Login credentials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5557302" y="3085802"/>
            <a:ext cx="6228004" cy="902891"/>
          </a:xfrm>
          <a:prstGeom prst="rect">
            <a:avLst/>
          </a:prstGeom>
          <a:solidFill>
            <a:srgbClr val="F6C9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7"/>
          <p:cNvSpPr/>
          <p:nvPr/>
        </p:nvSpPr>
        <p:spPr>
          <a:xfrm>
            <a:off x="5811295" y="3298369"/>
            <a:ext cx="5720016" cy="496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Main goal: To trick the victim into taking an unsafe action.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457189" y="482766"/>
            <a:ext cx="5735196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3200"/>
              <a:buFont typeface="Archivo"/>
              <a:buNone/>
            </a:pPr>
            <a:r>
              <a:rPr b="1" i="0" lang="en-US" spc="-32" sz="32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HOW DOES PHISHING WORK?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189" y="1466850"/>
            <a:ext cx="6192385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Typical phishing process: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189" y="1936055"/>
            <a:ext cx="57351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000"/>
              <a:buFont typeface="Atkinson Hyperlegible"/>
              <a:buNone/>
            </a:pPr>
            <a:r>
              <a:rPr b="1" i="0" lang="en-US" sz="20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Attacker → Fake Message → Victim → Unsafe Action → Information/Account Compromised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457189" y="2858393"/>
            <a:ext cx="5735196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000"/>
              <a:buFont typeface="Atkinson Hyperlegible"/>
              <a:buNone/>
            </a:pPr>
            <a:r>
              <a:rPr b="1" i="0" lang="en-US" sz="20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Examples of unsafe actions: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457189" y="3285430"/>
            <a:ext cx="5735196" cy="1318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Clicking a malicious link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Opening a suspicious attachment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Entering login details on a fake website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Sharing an OTP or password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6663" y="0"/>
            <a:ext cx="50850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" name="Google Shape;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3027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/>
          <p:nvPr/>
        </p:nvSpPr>
        <p:spPr>
          <a:xfrm>
            <a:off x="0" y="0"/>
            <a:ext cx="4302712" cy="6858000"/>
          </a:xfrm>
          <a:prstGeom prst="rect">
            <a:avLst/>
          </a:prstGeom>
          <a:solidFill>
            <a:srgbClr val="00000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5216990" y="482766"/>
            <a:ext cx="6517517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3200"/>
              <a:buFont typeface="Archivo"/>
              <a:buNone/>
            </a:pPr>
            <a:r>
              <a:rPr b="1" i="0" lang="en-US" spc="-32" sz="32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COMMON TYPES OF PHISHING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5216990" y="1060450"/>
            <a:ext cx="3106362" cy="1481931"/>
          </a:xfrm>
          <a:prstGeom prst="roundRect">
            <a:avLst>
              <a:gd fmla="val 2185" name="adj"/>
            </a:avLst>
          </a:prstGeom>
          <a:noFill/>
          <a:ln cap="flat" cmpd="sng" w="25375">
            <a:solidFill>
              <a:srgbClr val="D0C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5470983" y="1323816"/>
            <a:ext cx="2598375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Email Phishing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5470983" y="1705570"/>
            <a:ext cx="2598375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Fake emails pretending to be trusted organizations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8628144" y="1060450"/>
            <a:ext cx="3106362" cy="1481931"/>
          </a:xfrm>
          <a:prstGeom prst="roundRect">
            <a:avLst>
              <a:gd fmla="val 2185" name="adj"/>
            </a:avLst>
          </a:prstGeom>
          <a:noFill/>
          <a:ln cap="flat" cmpd="sng" w="25375">
            <a:solidFill>
              <a:srgbClr val="D0C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8882138" y="1323816"/>
            <a:ext cx="2598375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Spear Phishing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8882138" y="1705570"/>
            <a:ext cx="2598375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Targeted phishing aimed at a specific person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5216990" y="2847082"/>
            <a:ext cx="3106362" cy="1481931"/>
          </a:xfrm>
          <a:prstGeom prst="roundRect">
            <a:avLst>
              <a:gd fmla="val 2185" name="adj"/>
            </a:avLst>
          </a:prstGeom>
          <a:noFill/>
          <a:ln cap="flat" cmpd="sng" w="25375">
            <a:solidFill>
              <a:srgbClr val="D0C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5470983" y="3110448"/>
            <a:ext cx="2598375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Smishing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70983" y="3492202"/>
            <a:ext cx="2598375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Phishing through SMS or text messages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8628144" y="2847082"/>
            <a:ext cx="3106362" cy="1481931"/>
          </a:xfrm>
          <a:prstGeom prst="roundRect">
            <a:avLst>
              <a:gd fmla="val 2185" name="adj"/>
            </a:avLst>
          </a:prstGeom>
          <a:noFill/>
          <a:ln cap="flat" cmpd="sng" w="25375">
            <a:solidFill>
              <a:srgbClr val="D0C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8882138" y="3110448"/>
            <a:ext cx="2598375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Vishing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8882138" y="3492202"/>
            <a:ext cx="2598375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Phishing through phone calls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5216990" y="4633714"/>
            <a:ext cx="6517517" cy="1190526"/>
          </a:xfrm>
          <a:prstGeom prst="roundRect">
            <a:avLst>
              <a:gd fmla="val 2720" name="adj"/>
            </a:avLst>
          </a:prstGeom>
          <a:noFill/>
          <a:ln cap="flat" cmpd="sng" w="25375">
            <a:solidFill>
              <a:srgbClr val="D0C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5470983" y="4897080"/>
            <a:ext cx="600952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Fake Websites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5470983" y="5278834"/>
            <a:ext cx="6263523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Websites designed to look like legitimate websites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457189" y="482766"/>
            <a:ext cx="6126406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3200"/>
              <a:buFont typeface="Archivo"/>
              <a:buNone/>
            </a:pPr>
            <a:r>
              <a:rPr b="1" i="0" lang="en-US" spc="-32" sz="32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HOW TO RECOGNIZE A PHISHING EMAIL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457189" y="1466850"/>
            <a:ext cx="6583595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Look for these warning signs: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457189" y="2022376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791746" y="1936055"/>
            <a:ext cx="5791849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Unknown sender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457189" y="2466181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/>
          <p:nvPr/>
        </p:nvSpPr>
        <p:spPr>
          <a:xfrm>
            <a:off x="791746" y="2379861"/>
            <a:ext cx="5791849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Urgent or threatening language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457189" y="2909987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791746" y="2823666"/>
            <a:ext cx="5791849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Suspicious links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457189" y="3353792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"/>
          <p:cNvSpPr/>
          <p:nvPr/>
        </p:nvSpPr>
        <p:spPr>
          <a:xfrm>
            <a:off x="791746" y="3267472"/>
            <a:ext cx="5791849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Unexpected attachments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457189" y="3797598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"/>
          <p:cNvSpPr/>
          <p:nvPr/>
        </p:nvSpPr>
        <p:spPr>
          <a:xfrm>
            <a:off x="791746" y="3711277"/>
            <a:ext cx="5791849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Spelling or grammar mistakes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457189" y="4241403"/>
            <a:ext cx="118663" cy="118666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"/>
          <p:cNvSpPr/>
          <p:nvPr/>
        </p:nvSpPr>
        <p:spPr>
          <a:xfrm>
            <a:off x="791746" y="4155083"/>
            <a:ext cx="5791849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Requests for passwords, OTPs or personal information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457189" y="4598888"/>
            <a:ext cx="6126406" cy="603845"/>
          </a:xfrm>
          <a:prstGeom prst="rect">
            <a:avLst/>
          </a:prstGeom>
          <a:solidFill>
            <a:srgbClr val="F6C9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711182" y="4786054"/>
            <a:ext cx="561841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Tip: Don't click first. Verify first.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873" y="0"/>
            <a:ext cx="46938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"/>
          <p:cNvSpPr/>
          <p:nvPr/>
        </p:nvSpPr>
        <p:spPr>
          <a:xfrm>
            <a:off x="7497873" y="0"/>
            <a:ext cx="4693822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>
            <a:off x="457189" y="482766"/>
            <a:ext cx="11277318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3200"/>
              <a:buFont typeface="Archivo"/>
              <a:buNone/>
            </a:pPr>
            <a:r>
              <a:rPr b="1" i="0" lang="en-US" spc="-32" sz="32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HOW TO IDENTIFY A FAKE WEBSITE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457189" y="1060450"/>
            <a:ext cx="11734506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Before entering your information, check: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457189" y="1529655"/>
            <a:ext cx="11277318" cy="1660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Is the website address correct?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Is the domain name suspicious or misspelled?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Did you reach the website through an unexpected link?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Is the website asking for unnecessary sensitive information?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Does the page look unusual or different from the official website?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457189" y="3342283"/>
            <a:ext cx="11277318" cy="603845"/>
          </a:xfrm>
          <a:prstGeom prst="rect">
            <a:avLst/>
          </a:prstGeom>
          <a:solidFill>
            <a:srgbClr val="F6C9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"/>
          <p:cNvSpPr/>
          <p:nvPr/>
        </p:nvSpPr>
        <p:spPr>
          <a:xfrm>
            <a:off x="711182" y="3529449"/>
            <a:ext cx="10769331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Best practice: Type the official website address yourself instead of using a suspicious link.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/>
          <p:nvPr/>
        </p:nvSpPr>
        <p:spPr>
          <a:xfrm>
            <a:off x="457189" y="482766"/>
            <a:ext cx="11277318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3200"/>
              <a:buFont typeface="Archivo"/>
              <a:buNone/>
            </a:pPr>
            <a:r>
              <a:rPr b="1" i="0" lang="en-US" spc="-32" sz="32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SOCIAL ENGINEERING TACTICS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457189" y="1060450"/>
            <a:ext cx="11734506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Attackers often manipulate emotions instead of only using technical methods.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457189" y="1529655"/>
            <a:ext cx="647684" cy="647700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10" y="1691580"/>
            <a:ext cx="323842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2"/>
          <p:cNvSpPr/>
          <p:nvPr/>
        </p:nvSpPr>
        <p:spPr>
          <a:xfrm>
            <a:off x="457189" y="2299593"/>
            <a:ext cx="360671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000"/>
              <a:buFont typeface="Atkinson Hyperlegible"/>
              <a:buNone/>
            </a:pPr>
            <a:r>
              <a:rPr b="1" i="0" lang="en-US" sz="20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Urgency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457189" y="2726630"/>
            <a:ext cx="360671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“Act immediately!”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368691" y="1529655"/>
            <a:ext cx="647684" cy="647700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0612" y="1691580"/>
            <a:ext cx="323842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2"/>
          <p:cNvSpPr/>
          <p:nvPr/>
        </p:nvSpPr>
        <p:spPr>
          <a:xfrm>
            <a:off x="4368691" y="2299593"/>
            <a:ext cx="350511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000"/>
              <a:buFont typeface="Atkinson Hyperlegible"/>
              <a:buNone/>
            </a:pPr>
            <a:r>
              <a:rPr b="1" i="0" lang="en-US" sz="20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Fear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4368691" y="2726630"/>
            <a:ext cx="3505112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“Your account will be blocked.”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8178595" y="1529655"/>
            <a:ext cx="647684" cy="647700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0516" y="1691580"/>
            <a:ext cx="323842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/>
          <p:nvPr/>
        </p:nvSpPr>
        <p:spPr>
          <a:xfrm>
            <a:off x="8178595" y="2299593"/>
            <a:ext cx="3555911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000"/>
              <a:buFont typeface="Atkinson Hyperlegible"/>
              <a:buNone/>
            </a:pPr>
            <a:r>
              <a:rPr b="1" i="0" lang="en-US" sz="20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Authority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8178595" y="2726630"/>
            <a:ext cx="3555911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Pretending to be a bank, company or official.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457189" y="3726755"/>
            <a:ext cx="647684" cy="647700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10" y="3888680"/>
            <a:ext cx="323842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2"/>
          <p:cNvSpPr/>
          <p:nvPr/>
        </p:nvSpPr>
        <p:spPr>
          <a:xfrm>
            <a:off x="457189" y="4496693"/>
            <a:ext cx="360671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000"/>
              <a:buFont typeface="Atkinson Hyperlegible"/>
              <a:buNone/>
            </a:pPr>
            <a:r>
              <a:rPr b="1" i="0" lang="en-US" sz="20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Curiosity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457189" y="4923730"/>
            <a:ext cx="3606710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Sending an interesting-looking link or attachment.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4368691" y="3726755"/>
            <a:ext cx="647684" cy="647700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30612" y="3888680"/>
            <a:ext cx="323842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2"/>
          <p:cNvSpPr/>
          <p:nvPr/>
        </p:nvSpPr>
        <p:spPr>
          <a:xfrm>
            <a:off x="4368691" y="4496693"/>
            <a:ext cx="7365816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000"/>
              <a:buFont typeface="Atkinson Hyperlegible"/>
              <a:buNone/>
            </a:pPr>
            <a:r>
              <a:rPr b="1" i="0" lang="en-US" sz="20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Reward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4368691" y="4923730"/>
            <a:ext cx="7365816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Promising prizes, offers or money.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457189" y="5796955"/>
            <a:ext cx="11277318" cy="603845"/>
          </a:xfrm>
          <a:prstGeom prst="rect">
            <a:avLst/>
          </a:prstGeom>
          <a:solidFill>
            <a:srgbClr val="F6C9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711182" y="5984121"/>
            <a:ext cx="10769331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Remember: Think before you trust.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/>
          <p:nvPr/>
        </p:nvSpPr>
        <p:spPr>
          <a:xfrm>
            <a:off x="457189" y="482766"/>
            <a:ext cx="11277318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3200"/>
              <a:buFont typeface="Archivo"/>
              <a:buNone/>
            </a:pPr>
            <a:r>
              <a:rPr b="1" i="0" lang="en-US" spc="-32" sz="32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BEST PRACTICES TO STAY SAFE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457189" y="1060450"/>
            <a:ext cx="377816" cy="377825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527334" y="1141413"/>
            <a:ext cx="847108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1050899" y="1109663"/>
            <a:ext cx="4892553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Verify the sender before responding.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6248244" y="1060450"/>
            <a:ext cx="377816" cy="377825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6303507" y="1141413"/>
            <a:ext cx="876873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6841954" y="1109663"/>
            <a:ext cx="4892553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Check links carefully before clicking.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457189" y="2471738"/>
            <a:ext cx="379403" cy="379413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511162" y="2553494"/>
            <a:ext cx="88104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52486" y="2521744"/>
            <a:ext cx="4890965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Never share passwords or OTPs.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6248244" y="2471738"/>
            <a:ext cx="383868" cy="383877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6302217" y="2555677"/>
            <a:ext cx="885505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6848006" y="2523927"/>
            <a:ext cx="48865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Use strong and unique passwords.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457189" y="3883025"/>
            <a:ext cx="380891" cy="380901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511162" y="3965476"/>
            <a:ext cx="882529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05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1053974" y="3933726"/>
            <a:ext cx="4889477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Enable two-factor authentication (2FA).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6248244" y="3883025"/>
            <a:ext cx="385158" cy="385167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6302217" y="3967659"/>
            <a:ext cx="886795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06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6849296" y="3935909"/>
            <a:ext cx="4885211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Keep your device and software updated.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457189" y="5294313"/>
            <a:ext cx="377816" cy="377825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517016" y="5375275"/>
            <a:ext cx="867646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07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1050899" y="5343525"/>
            <a:ext cx="4892553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Avoid opening unexpected attachments.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6248244" y="5294313"/>
            <a:ext cx="383669" cy="383679"/>
          </a:xfrm>
          <a:prstGeom prst="ellipse">
            <a:avLst/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6302217" y="5378152"/>
            <a:ext cx="885307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08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6847808" y="5346402"/>
            <a:ext cx="4886699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Report suspicious messages.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/>
          <p:nvPr/>
        </p:nvSpPr>
        <p:spPr>
          <a:xfrm>
            <a:off x="457189" y="482766"/>
            <a:ext cx="6126406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3200"/>
              <a:buFont typeface="Archivo"/>
              <a:buNone/>
            </a:pPr>
            <a:r>
              <a:rPr b="1" i="0" lang="en-US" spc="-32" sz="32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REAL-WORLD EXAMPLE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457189" y="1060802"/>
            <a:ext cx="6126406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600"/>
              <a:buFont typeface="Archivo"/>
              <a:buNone/>
            </a:pPr>
            <a:r>
              <a:rPr b="1" i="0" lang="en-US" spc="-26" sz="26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EXAMPLE: FAKE ACCOUNT ALERT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781030" y="1644650"/>
            <a:ext cx="5802564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“Your account will be suspended today. Click the link below to verify your account.”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457189" y="1568450"/>
            <a:ext cx="28574" cy="735211"/>
          </a:xfrm>
          <a:prstGeom prst="roundRect">
            <a:avLst>
              <a:gd fmla="val 50000" name="adj"/>
            </a:avLst>
          </a:prstGeom>
          <a:solidFill>
            <a:srgbClr val="1E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457189" y="2659613"/>
            <a:ext cx="6126406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600"/>
              <a:buFont typeface="Archivo"/>
              <a:buNone/>
            </a:pPr>
            <a:r>
              <a:rPr b="1" i="0" lang="en-US" spc="-26" sz="26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WARNING SIGNS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57189" y="3167261"/>
            <a:ext cx="6126406" cy="1318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Creates urgency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Unexpected message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Suspicious link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Requests account verification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457189" y="4841235"/>
            <a:ext cx="6126406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600"/>
              <a:buFont typeface="Archivo"/>
              <a:buNone/>
            </a:pPr>
            <a:r>
              <a:rPr b="1" i="0" lang="en-US" spc="-26" sz="26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WHAT SHOULD YOU DO?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457189" y="5348883"/>
            <a:ext cx="6126406" cy="975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Don't click the link.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Open the official website/app directly.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Verify whether there is actually a problem.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873" y="0"/>
            <a:ext cx="46938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/>
          <p:nvPr/>
        </p:nvSpPr>
        <p:spPr>
          <a:xfrm>
            <a:off x="7497873" y="0"/>
            <a:ext cx="4693822" cy="6858000"/>
          </a:xfrm>
          <a:prstGeom prst="rect">
            <a:avLst/>
          </a:prstGeom>
          <a:solidFill>
            <a:srgbClr val="000000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/>
          <p:nvPr/>
        </p:nvSpPr>
        <p:spPr>
          <a:xfrm>
            <a:off x="457189" y="482766"/>
            <a:ext cx="11277318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3200"/>
              <a:buFont typeface="Archivo"/>
              <a:buNone/>
            </a:pPr>
            <a:r>
              <a:rPr b="1" i="0" lang="en-US" spc="-32" sz="32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PHISHING AWARENESS QUIZ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457189" y="1060450"/>
            <a:ext cx="5486263" cy="534035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736582" y="1359252"/>
            <a:ext cx="4927477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2600"/>
              <a:buFont typeface="Archivo"/>
              <a:buNone/>
            </a:pPr>
            <a:r>
              <a:rPr b="1" i="0" lang="en-US" spc="-26" sz="2600" u="none" cap="none" strike="noStrike">
                <a:solidFill>
                  <a:srgbClr val="22282A"/>
                </a:solidFill>
                <a:latin typeface="Archivo"/>
                <a:ea typeface="Archivo"/>
                <a:cs typeface="Archivo"/>
                <a:sym typeface="Archivo"/>
              </a:rPr>
              <a:t>QUESTION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736582" y="1866900"/>
            <a:ext cx="4927477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You receive an unexpected message asking for your OTP. What should you do?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736582" y="2564011"/>
            <a:ext cx="4927477" cy="1318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A. Share the OTP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B. Ignore/verify the request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C. Forward it to friends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D. Click the link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736582" y="3996333"/>
            <a:ext cx="520687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82A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22282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Correct Answer: 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6248244" y="1060450"/>
            <a:ext cx="5486263" cy="5340350"/>
          </a:xfrm>
          <a:prstGeom prst="rect">
            <a:avLst/>
          </a:prstGeom>
          <a:solidFill>
            <a:srgbClr val="F6C9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6527637" y="1359252"/>
            <a:ext cx="4927477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chivo"/>
              <a:buNone/>
            </a:pPr>
            <a:r>
              <a:rPr b="1" i="0" lang="en-US" spc="-26" sz="26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QUESTION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6527637" y="1866900"/>
            <a:ext cx="520687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What is Smishing?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6527637" y="2272605"/>
            <a:ext cx="4927477" cy="1318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A. Phishing through SMS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B. Phishing through phone calls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C. Phishing through websites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0" marL="34544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D. Phishing through USB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6527637" y="3704927"/>
            <a:ext cx="520687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Correct Answer: 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/>
          <p:nvPr/>
        </p:nvSpPr>
        <p:spPr>
          <a:xfrm>
            <a:off x="457189" y="2806568"/>
            <a:ext cx="11277318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chivo"/>
              <a:buNone/>
            </a:pPr>
            <a:r>
              <a:rPr b="1" i="0" lang="en-US" spc="-32" sz="3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THANK YOU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457189" y="3373140"/>
            <a:ext cx="11277318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tkinson Hyperlegibl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Stay Safe. Stay Alert.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457189" y="3855581"/>
            <a:ext cx="11734506" cy="222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tkinson Hyperlegible"/>
              <a:buNone/>
            </a:pPr>
            <a:r>
              <a:rPr b="0" i="0" lang="en-US" spc="13" sz="135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CodeAlpha Cyber Security Internship — Task 2.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